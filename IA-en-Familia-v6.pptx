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C2698863-4E3F-9AC0-096E-5FEF3A715036}">
          <p14:sldIdLst>
            <p14:sldId id="256"/>
            <p14:sldId id="257"/>
            <p14:sldId id="258"/>
            <p14:sldId id="259"/>
          </p14:sldIdLst>
        </p14:section>
        <p14:section name="Qué es la IA" id="{C7A20C07-532A-C909-6285-B4EB3EC5B76A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ómo hacer buenas preguntas" id="{99ACAD06-D183-8209-21B5-1DF2EE857008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Nuestros hijos y la IA" id="{647C4B86-4F39-92DC-E953-16966AE3C2F7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Ejercicio práctico" id="{72E8EEB0-911C-F286-742D-C17FCF446071}">
          <p14:sldIdLst>
            <p14:sldId id="282"/>
            <p14:sldId id="283"/>
          </p14:sldIdLst>
        </p14:section>
        <p14:section name="¿Podemos confiar en la IA?" id="{C2481782-1955-4345-3AAF-3A6098C9D824}">
          <p14:sldIdLst>
            <p14:sldId id="284"/>
            <p14:sldId id="285"/>
            <p14:sldId id="286"/>
            <p14:sldId id="287"/>
          </p14:sldIdLst>
        </p14:section>
        <p14:section name="La IA en la vida diaria" id="{A5CD017D-1746-EB40-B0D4-FF8D8E2A4953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Guía Práctica Familiar" id="{779E274C-D902-1404-9923-31D305CE723A}">
          <p14:sldIdLst>
            <p14:sldId id="296"/>
            <p14:sldId id="297"/>
            <p14:sldId id="298"/>
            <p14:sldId id="299"/>
          </p14:sldIdLst>
        </p14:section>
        <p14:section name="Conclusiones" id="{2C9443EB-7400-4FF1-A5FD-FDC3B9312A58}">
          <p14:sldIdLst>
            <p14:sldId id="300"/>
            <p14:sldId id="301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8938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Presentarse brevemente y recordar que el taller es práctico: nadie necesita saber de tecnología.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cómo la IA ayudó a redactar un correo claro y respetuoso al maestro. Usar como puente: la IA es una herramienta, nosotros decidimos qué enviar.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cada persona que señale dónde está en la escala. Volver a preguntar al final del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la demostración temprano: 1 de cada 4 participantes no conoce los chatbots. Proyectar el celular si es posible.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público: ¿qué han visto hacer a sus hijos con la IA?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Tratar este ejemplo con calma: el objetivo es enseñar a hablar de la situación en general, no generar miedo. Para temas legales, recomendar una organización de confianza o un abogado.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partes entre corchetes se reemplazan con el tema y la edad del niño.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swi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0"/>
            <a:ext cx="3611880" cy="398678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02920"/>
            <a:ext cx="56692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2148840"/>
            <a:ext cx="53035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54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0574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42900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029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IA en Familia: Guía práctica para padres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2148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Qué es la IA generativa, cómo funciona y cómo usarla con responsabilidad en casa y en la escuela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46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Ivan Portilla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Arquitecto de IA y educador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Portilla@gmail.com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github.com/iportilla/about-me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Objetivos de esta capacitación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 del taller, usted podrá: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9888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55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0848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la IA generativa y cómo funciona, sin tecnicismos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9204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9888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1755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Preguntar mejor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20848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escribir instrucciones claras para obtener mejores respuestas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292608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85800" y="3200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3604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127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Acompañar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34564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uso de la IA de sus hijos en la escuela y en casa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663440" y="292608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92040" y="3200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3604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15000" y="3127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Llevarse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0" y="34564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Guía Práctica Familiar para el uso de ChatGPT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parentengagementnetwork.org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4D3C80-9988-0000-E9B1-CB9005E31D57}"/>
              </a:ext>
            </a:extLst>
          </p:cNvPr>
          <p:cNvSpPr txBox="1"/>
          <p:nvPr/>
        </p:nvSpPr>
        <p:spPr>
          <a:xfrm>
            <a:off x="394138" y="47091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github.com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iportilla</a:t>
            </a:r>
            <a:r>
              <a:rPr lang="en-US" dirty="0">
                <a:solidFill>
                  <a:schemeClr val="bg1"/>
                </a:solidFill>
              </a:rPr>
              <a:t>/BSD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Décadas de experiencia en IA y educación</a:t>
            </a:r>
            <a:endParaRPr lang="en-US" sz="2800" dirty="0"/>
          </a:p>
        </p:txBody>
      </p:sp>
      <p:pic>
        <p:nvPicPr>
          <p:cNvPr id="3" name="Image 0" descr="/home/claude/work/assets/rico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3108960" cy="2744880"/>
          </a:xfrm>
          <a:prstGeom prst="rect">
            <a:avLst/>
          </a:prstGeom>
        </p:spPr>
      </p:pic>
      <p:pic>
        <p:nvPicPr>
          <p:cNvPr id="4" name="Image 1" descr="/home/claude/work/assets/ibm_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143000"/>
            <a:ext cx="2862072" cy="2728434"/>
          </a:xfrm>
          <a:prstGeom prst="rect">
            <a:avLst/>
          </a:prstGeom>
        </p:spPr>
      </p:pic>
      <p:pic>
        <p:nvPicPr>
          <p:cNvPr id="5" name="Image 2" descr="/home/claude/work/assets/log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1143000"/>
            <a:ext cx="1965960" cy="1592676"/>
          </a:xfrm>
          <a:prstGeom prst="rect">
            <a:avLst/>
          </a:prstGeom>
        </p:spPr>
      </p:pic>
      <p:pic>
        <p:nvPicPr>
          <p:cNvPr id="6" name="Image 3" descr="/home/claude/work/assets/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3063240"/>
            <a:ext cx="1143000" cy="11430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45720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github.com/iportilla/about-me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Bienvenida: ¿cómo nos sentimos ante la IA?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572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y cómo funciona la IA generativa? + demostración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048256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0482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hacer buenas preguntas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52374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237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Nuestros hijos y la IA: escuela, riesgos y oportunidades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29992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999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práctico en parejas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¿Podemos confiar en la IA? Alucinaciones, privacidad y estafas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95020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4864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950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en la vida diaria y Guía Práctica Familiar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057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Un ejemplo reciente con la Inteligencia Artificial (IA)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¿Quién escribió este mensaje?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1188720"/>
            <a:ext cx="69494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463040" y="146304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Estimado(a) maestro(a):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hijo tiene una cita médica y no podrá asistir a la escuela el próximo viernes. ¿Nos podría indicar qué tareas debe completar para la próxima semana?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gracias.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069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al público: ¿lo escribió una persona o la IA? ¿Importa?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¿Cómo nos sentimos sobre la IA?</a:t>
            </a:r>
            <a:endParaRPr lang="en-US" sz="2800" dirty="0"/>
          </a:p>
        </p:txBody>
      </p:sp>
      <p:pic>
        <p:nvPicPr>
          <p:cNvPr id="3" name="Image 0" descr="/home/claude/work/assets/rob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1325880" cy="1804426"/>
          </a:xfrm>
          <a:prstGeom prst="rect">
            <a:avLst/>
          </a:prstGeom>
        </p:spPr>
      </p:pic>
      <p:pic>
        <p:nvPicPr>
          <p:cNvPr id="4" name="Image 1" descr="/home/claude/work/assets/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371600"/>
            <a:ext cx="1280160" cy="192239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874520" y="2267712"/>
            <a:ext cx="5440680" cy="128016"/>
          </a:xfrm>
          <a:prstGeom prst="roundRect">
            <a:avLst>
              <a:gd name="adj" fmla="val 50000"/>
            </a:avLst>
          </a:prstGeom>
          <a:solidFill>
            <a:srgbClr val="F09A3E"/>
          </a:solidFill>
          <a:ln w="12700">
            <a:solidFill>
              <a:srgbClr val="F09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187452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Temeroso(a)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315468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09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Desconfiado(a)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75488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Fascinado(a)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03504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Entendido(a)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874520" y="25603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2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Expuesto(a)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926080" y="25603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Ansioso(a)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25603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Curioso(a)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25603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D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Entusiasmado(a)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172200" y="25603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BE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 servido(a)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estas emociones son válidas. El objetivo de hoy es movernos un paso hacia la derecha: de la preocupación a la confianza informada.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Encuesta: ¿Conoce ChatGPT u otros chatbots?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577840" cy="2860379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work/assets/en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394960" cy="26774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0936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de cada 10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1488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usan chatbots con frecuencia, pero 1 de cada 4 no los conoce.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 previa al taller, 12 respuestas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Encuesta: ¿Qué tanto sabe de IA?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577840" cy="2972529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work/assets/en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394960" cy="27896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0936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 cada 4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1488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no saber nada de IA. Empezamos desde cero, sin tecnicismos.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 previa al taller, 12 respuestas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Encuesta: ¿Qué le gustaría aprender?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577840" cy="346644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work/assets/en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394960" cy="328356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0936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 cada 3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1488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quieren aprender a usar ChatGPT en la vida diaria; los usos creativos siguen de cerca.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 previa al taller, 12 respuestas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Encuesta: ¿Qué usos le interesan más?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752742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work/assets/en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569862" cy="3383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4262" y="1463040"/>
            <a:ext cx="3202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 la mitad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4262" y="2148840"/>
            <a:ext cx="32025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quiere resumir textos, practicar idiomas y crear cuentos o arte.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 previa al taller, 12 respuestas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¿Cómo funciona la IA generativa?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como el autocompletar de su celular, pero entrenado con millones de libros y páginas web.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1810512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19705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90779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enormes cantidades de texto y aprende patrones del lenguaje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04872" y="2542032"/>
            <a:ext cx="146304" cy="219456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578608" y="164592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18688" y="1810512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708" y="197053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15768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715768" y="290779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Usted escribe una pregunta o instrucción (el "prompt")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26280" y="2542032"/>
            <a:ext cx="146304" cy="219456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700016" y="164592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340096" y="181051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116" y="1970532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37176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837176" y="290779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cuál es la palabra más probable que sigue, una a la vez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647688" y="2542032"/>
            <a:ext cx="146304" cy="219456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821424" y="164592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461504" y="1810512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1524" y="1970532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58584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958584" y="290779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texto, imágenes o audio nuevos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3A1E33"/>
          </a:solidFill>
          <a:ln w="12700">
            <a:solidFill>
              <a:srgbClr val="3A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685800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Clave: </a:t>
            </a: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predice palabras, no sabe la verdad. Por eso suena segura aunque se equivoque.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Demostración en vivo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560320" y="132588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Abrimos ChatGPT en un celular, en español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hablamos con el modo de voz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pedimos que redacte el correo al maestro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pedimos que lo explique "como si yo tuviera 10 años"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37490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necesita computadora: el celular es suficiente.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02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057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Cómo hacer buenas preguntas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429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Ingeniería de preguntas (prompt engineering): escribir instrucciones claras para guiar a la IA hacia la respuesta que necesitamos.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Las 4 partes de una buena pregunta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324612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5544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quiere que haga la IA?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"Explícame cómo resolver fracciones equivalentes…"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78608" y="1143000"/>
            <a:ext cx="1920240" cy="324612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61488" y="1325880"/>
            <a:ext cx="155448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761488" y="13258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61488" y="1828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lo necesita y quién está involucrado?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27432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"…para ayudar a mi hija de 10 años con su tarea."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0016" y="1143000"/>
            <a:ext cx="1920240" cy="324612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82896" y="1325880"/>
            <a:ext cx="155448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82896" y="13258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Expectativas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82896" y="1828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quiere la respuesta?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82896" y="27432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"Usa palabras sencillas y un ejemplo con pizza."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21424" y="1143000"/>
            <a:ext cx="1920240" cy="324612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04304" y="1325880"/>
            <a:ext cx="155448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004304" y="13258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004304" y="1828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información debe usar?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4304" y="27432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"Usa la foto de la página del libro que te adjunto."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Todo junto: una pregunta completa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218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Explícame cómo resolver fracciones equivalentes </a:t>
            </a:r>
            <a:r>
              <a:rPr lang="en-US" sz="2000" dirty="0">
                <a:solidFill>
                  <a:srgbClr val="0E7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ayudar a mi hija de 10 años con su tarea de matemáticas. </a:t>
            </a:r>
            <a:r>
              <a:rPr lang="en-US" sz="2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la foto de la página de su libro que te adjunto. </a:t>
            </a:r>
            <a:r>
              <a:rPr lang="en-US" sz="200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palabras sencillas y un ejemplo con pizza para que yo se lo pueda explicar.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886200"/>
            <a:ext cx="19202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38862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78608" y="3886200"/>
            <a:ext cx="19202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578608" y="38862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0016" y="3886200"/>
            <a:ext cx="192024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700016" y="38862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21424" y="3886200"/>
            <a:ext cx="192024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821424" y="38862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Expectativas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Pregunta vaga vs. pregunta clara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Escribirle al maestro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38328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01168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vaga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un correo para la maestra.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23360" y="1280160"/>
            <a:ext cx="466344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1463040"/>
            <a:ext cx="256032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206240" y="14630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clara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920240"/>
            <a:ext cx="4297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Ayúdame a escribir un correo corto y respetuoso para la maestra de 3er grado de mi hijo. Quiero pedirle una reunión porque mi hijo dice que no entiende las tareas de lectura. Puedo reunirme martes o jueves después de las 4 p. m. Escríbelo en inglés y dame también la traducción al español.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detalles = mejores respuestas. Y puede pedir la respuesta en inglés y en español.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Consejo 1: Dele un rol a la 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inicio de la conversación, dígale a la IA quién debe ser. Así ajusta su tono, nivel y experiencia durante toda la sesión.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39319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rol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"Explícame la fotosíntesis."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874520"/>
            <a:ext cx="39319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05740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057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rol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6060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"Eres un maestro de primaria paciente y divertido. Explícale la fotosíntesis a un niño de 8 años en 5 oraciones."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Consejo 2: Pida que la IA guíe, no que resuelva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las tareas, la IA es mejor tutor que solucionador. Pídale que haga preguntas en vez de dar la respuesta.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822960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4460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20574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"Tengo 12 años y no entiendo este problema de matemáticas: [problema]. No me des la respuesta. Hazme preguntas, una a la vez, para que yo llegue a la solución paso a paso."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frase sirve para cualquier materia: "No me des la respuesta, ayúdame a pensar".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Consejo 3: Pídale que revise su respuesta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puede revisar su propia respuesta, encontrar un error y corregirlo. Pídale: "Revisa tu respuesta. ¿Está correcta?"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82880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"¿El 17 es un número primo? Explica tu respuesta."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64408" y="182880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47288" y="2011680"/>
            <a:ext cx="1828800" cy="3108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447288" y="20116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de la IA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51460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"17 no es primo porque se puede dividir entre 1, 17 y también entre 3."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71616" y="182880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54496" y="2011680"/>
            <a:ext cx="182880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254496" y="20116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54496" y="251460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"Esa respuesta es incorrecta. El 17 solo se divide exactamente entre 1 y 17. Por lo tanto, sí es primo."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03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057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Nuestros hijos y la IA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429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Escuela, riesgos y oportunidades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¿Qué hacen nuestros hijos con la IA?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259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Preguntan dudas, resumen lecturas, piden ensayos completos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9204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172593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 "amigos"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Conversan con personajes o compañeros virtuales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7889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85800" y="31546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32613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044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y filtros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Editan fotos, crean imágenes y videos con IA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63440" y="27889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892040" y="31546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3490" y="332613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3044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Juegos y apps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ya viene integrada en redes sociales y juegos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Usar la IA para aprender, no para copiar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 escolar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38328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01168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Escríbeme un ensayo de 5 párrafos sobre la Revolución Mexicana para mi clase de historia.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23360" y="1280160"/>
            <a:ext cx="466344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1463040"/>
            <a:ext cx="256032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206240" y="14630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920240"/>
            <a:ext cx="4297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entiendo qué causó la Revolución Mexicana. ¿Me lo puedes explicar como si tuviera 10 años? Luego hazme 3 preguntas para ver si entendí.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maestro puede detectarlo, pero lo más importante: el estudiante no aprende nada. La IA es el mejor tutor, si el estudiante sigue pensando.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Edades mínimas y controles parentales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860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 mínima: 13 años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Menores de 18 necesitan permiso de los padres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parentales: vincular la cuenta del adolescente, horarios sin acceso, desactivar memoria, voz o imágenes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14300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83480" y="13716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9788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Otras apps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2860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Gemini, Copilot y Meta AI (WhatsApp, Instagram) tienen sus propias reglas de edad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la configuración de cada app junto con sus hijos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Mantenga los dispositivos en espacios comunes de la casa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reglas cambian con frecuencia: verifique la configuración actual de cada app.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Riesgos que debemos conocer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4859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 de compañía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51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Personajes que actúan como amigos o "novios virtuales". Pueden crear dependencia emocional y aislar a los jóvenes.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64408" y="114300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47288" y="13258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308" y="14859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47288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 y videos falsos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2651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o videos falsos (deepfakes) para engañar, burlarse o acosar a otros.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71616" y="114300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54496" y="1325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516" y="14859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54496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Estafas con voz clonada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2651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"Mamá, estoy en problemas, mándame dinero." Con unos segundos de audio se puede imitar una voz.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3A1E33"/>
          </a:solidFill>
          <a:ln w="12700">
            <a:solidFill>
              <a:srgbClr val="3A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685800" y="3977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sencilla: </a:t>
            </a: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acuerden una palabra clave familiar. Si alguien pide dinero urgente, pregunte la palabra clave.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Cómo hablar con nuestros hijos sobre la 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para iniciar la conversación en casa, sin juzgar: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91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usas la IA? ¿Me enseñas cómo?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50876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691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¿Alguna vez la IA te dio una respuesta equivocada? ¿Cómo te diste cuenta?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30175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154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opinan tus maestros sobre usar la IA en las tareas?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297180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846320" y="30175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154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¿Has hablado con algún chatbot como si fuera un amigo? ¿Cómo te sentiste?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04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057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Ejercicio práctico en parejas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429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Mejoremos juntos una pregunta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Ejercicio: de pregunta vaga a pregunta clara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3A1E33"/>
          </a:solidFill>
          <a:ln w="12700">
            <a:solidFill>
              <a:srgbClr val="3A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partida: </a:t>
            </a:r>
            <a:r>
              <a:rPr lang="en-US" sz="18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"Ayúdame con la tarea de mi hijo."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920240" cy="22402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2240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Agreguen el objetivo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566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materia y qué tema?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78608" y="2057400"/>
            <a:ext cx="1920240" cy="22402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2240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218688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715768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Agreguen el contexto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15768" y="3566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edad y grado tiene el niño?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0016" y="2057400"/>
            <a:ext cx="1920240" cy="22402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40096" y="2240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4009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837176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Agreguen expectativas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3566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¿Explicación sencilla, ejemplos, preguntas?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21424" y="2057400"/>
            <a:ext cx="1920240" cy="22402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61504" y="2240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46150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958584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Prueben y comparen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58584" y="3566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Escriban ambas versiones y comparen las respuestas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Tiempo: 10 minutos. Al final, compartimos 2 o 3 ejemplos.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05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057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¿Podemos confiar en la IA?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429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Alucinaciones, privacidad y estafas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Fortalezas y debilidades de la IA generativa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64592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Fortalezas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contenido rápidamente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adapta a cada persona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Traduce y resume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con paciencia, a cualquier hora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 con la escritura y el código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la accesibilidad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0" y="1280160"/>
            <a:ext cx="1645920" cy="3108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937760" y="12801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Debilidades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Alucinaciones: inventa datos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inconsistentes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Sesgos e inequidad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de seguridad y privacidad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de derechos de autor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comprende realmente lo que dice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Alucinaciones: la IA también inventa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"¿Cuándo murió Frida Kahlo y cuál fue su último cuadro?"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173736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25603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de la IA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175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"Frida Kahlo murió el 13 de julio de 1954. Su último cuadro fue Viva la Vida, pintado pocos días antes de su muerte."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37760" y="12801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fecha es correcta, pero que el cuadro se pintara "pocos días antes de su muerte" es debatido. La IA lo afirma como un hecho comprobado.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lo verificarían?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291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i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seguridad no es lo mismo que la verdad.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Privacidad: la situación sí, sus datos no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737360" cy="3108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 haga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 llamo María González, mi número de seguro social es 123-45-6789, tengo visa de turista vencida. ¿Qué debo hacer?"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0" y="1280160"/>
            <a:ext cx="173736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937760" y="1280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así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7373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"Una persona tiene una visa de turista vencida. ¿Cuáles son las opciones generales que existen?"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3A1E33"/>
          </a:solidFill>
          <a:ln w="12700">
            <a:solidFill>
              <a:srgbClr val="3A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85800" y="36118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Trate el chat como una conversación en voz alta en público. </a:t>
            </a: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versiones gratuitas pueden usar sus conversaciones para entrenar el modelo. En ChatGPT: Configuración → Controles de datos → desactive "Mejorar el modelo para todos".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06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057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La IA en la vida diaria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429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De la pregunta sencilla a la pregunta avanzada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Crear un sistema de tareas del hogar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Vida en el hogar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383280" cy="342900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01168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Principiante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una familia con hijos de 7, 10 y 14 años. Queremos empezar un sistema de tareas del hogar. Sugiere métodos que usan otras familias.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23360" y="1280160"/>
            <a:ext cx="4663440" cy="3429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1463040"/>
            <a:ext cx="256032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206240" y="14630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Avanzado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920240"/>
            <a:ext cx="4297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Eres un coach familiar. Tenemos 3 hijos (7, 10 y 14 años). Las listas simples no nos funcionaron. Sugiere 3 o 4 métodos para un sistema de tareas a largo plazo. Para cada uno explica cómo empezar, qué incentivos usar según la edad y cómo mantener la responsabilidad sin conflictos. Sin apps complicadas.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Prepararse para una visita médica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 y bienestar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38328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01168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Principiante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 al médico pronto. ¿Cómo me puedo preparar para mi cita?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23360" y="1280160"/>
            <a:ext cx="466344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1463040"/>
            <a:ext cx="256032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206240" y="14630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Avanzado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920240"/>
            <a:ext cx="4297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Eres un asistente médico. Tengo 35 años y voy al médico por dolores de cabeza frecuentes que empezaron hace 3 meses. Tomo ibuprofeno a veces, pero no siempre funciona. Dame: (1) las preguntas clave para el médico, (2) qué síntomas describir con detalle, (3) qué estudios podría pedir.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no reemplaza al médico: úsela para prepararse, no para diagnosticarse.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Practicar una entrevista de trabajo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profesional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383280" cy="342900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01168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Principiante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Tengo una entrevista de trabajo pronto. Ayúdame a practicar.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23360" y="1280160"/>
            <a:ext cx="4663440" cy="3429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1463040"/>
            <a:ext cx="256032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206240" y="14630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Avanzado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920240"/>
            <a:ext cx="4297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Actúa como entrevistador de recursos humanos. Tengo una entrevista para vendedor en una tienda de ropa deportiva y 2 años de experiencia. Hazme 5 preguntas, una a la vez. Después de cada respuesta dime qué hice bien, qué puedo mejorar y cómo decirlo de forma más profesional.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Organizar el presupuesto familiar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Finanzas personales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38328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01168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Principiante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Quiero ahorrar más dinero cada mes. ¿Cómo puedo organizar mejor mi presupuesto?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23360" y="1280160"/>
            <a:ext cx="466344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1463040"/>
            <a:ext cx="256032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206240" y="14630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Avanzado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920240"/>
            <a:ext cx="4297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Actúa como asesor financiero. Gano $2,500 al mes. Gastos fijos: renta $900, transporte $200, comida $400, servicios $150. Tengo una deuda de tarjeta de $1,200. Quiero ahorrar $200 al mes y pagar la deuda en 12 meses. Dame un plan mensual, qué gastos reducir primero y cómo pagar la deuda sin dejar de ahorrar.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números de ejemplo: no comparta sus datos bancarios reales.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Entretener a los niños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Diversión y entretenimiento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383280" cy="342900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01168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Principiante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Tengo dos hijos de 6 y 9 años. Estamos en casa este fin de semana. Dame 5 actividades divertidas, sin gastar mucho dinero.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23360" y="1280160"/>
            <a:ext cx="4663440" cy="3429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1463040"/>
            <a:ext cx="256032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206240" y="14630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Avanzado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920240"/>
            <a:ext cx="4297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Actúa como especialista en desarrollo infantil. Tengo dos hijos de 6 y 9 años, un patio pequeño y materiales básicos. Dame: (1) un plan para el sábado dividido por horas, (2) una actividad creativa y una física para cada niño, (3) una actividad para hacer juntos. Que sea práctico y fácil de seguir.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Muchas más ideas para la vida diaria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3487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2801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Hogar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28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Limpiar y organizar, mejoras en casa, mantenimiento del carro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78608" y="109728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15768" y="1234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0068" y="13487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64408" y="12801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Comida y salud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715768" y="1828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Menús semanales, menos desperdicio, plan de ejercicio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00016" y="109728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837176" y="1234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476" y="134874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85816" y="12801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837176" y="1828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Hojas de vida, entrevistas, correos profesionales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821424" y="109728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958584" y="1234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884" y="13487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07224" y="12801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Finanzas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958584" y="1828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Presupuesto, ahorro, preparar impuestos, vender cosas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283464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594360" y="29718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" y="308610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43000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594360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inglés, nuevas habilidades, estudiar para exámenes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2578608" y="283464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2715768" y="29718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0068" y="308610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264408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Relaciones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2715768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conflictos, organizar fiestas, ideas de regalos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4700016" y="283464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4837176" y="29718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1476" y="3086100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385816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Viajes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4837176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Itinerarios, listas de empaque, traducción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6821424" y="283464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0"/>
          <p:cNvSpPr/>
          <p:nvPr/>
        </p:nvSpPr>
        <p:spPr>
          <a:xfrm>
            <a:off x="6958584" y="2971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2884" y="3086100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507224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Creatividad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6958584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Cuentos donde su hijo es el protagonista, poemas, juegos</a:t>
            </a:r>
            <a:endParaRPr lang="en-US" sz="11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Herramientas de IA gratuitas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chatgpt.com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Redactar, preguntar, explicar y practicar idiomas. App gratuita con modo de voz.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(Google)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gemini.google.com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Integrado con Google: búsquedas, resúmenes y ayuda con Gmail.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8580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copilot.microsoft.com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703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Gratuito en el navegador Edge, Windows y app móvil.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89204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AI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e Instagram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703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viene en apps que muchas familias usan todos los días.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07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057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Guía Práctica Familiar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429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Para el uso de ChatGPT y otras herramientas de IA en casa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Guía: nuestras reglas familiares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34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pensamos solos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600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Intentamos la tarea solos antes de usar la 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4632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234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explica, no hace la tarea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1600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usamos como tutor y escribimos con nuestras propias palabras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24028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6060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Verificamos lo importante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2743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Comparamos con el libro, el maestro u otra fuente confiable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224028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846320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6060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Cuidamos nuestros datos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2743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nombres completos, direcciones, fotos ni documentos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338328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640080" y="3611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490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3520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usamos en espacios comunes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1371600" y="3886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hablamos en familia de lo que encontramos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663440" y="338328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4846320" y="3611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74904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577840" y="3520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algo incomoda, lo contamos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5577840" y="3886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castigos: preguntar siempre está bien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Guía: qué nunca compartir y cómo verificar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103120" cy="3108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compartir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completo y dirección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de seguro social, pasaporte o visa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bancarios o contraseñas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de los niños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la escuela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médica personal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0" y="1280160"/>
            <a:ext cx="210312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937760" y="12801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verificar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783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Pregunte: "¿Cuál es tu fuente?"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con el libro de texto o el maestro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Busque el dato en 2 fuentes confiables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Desconfíe de fechas, cifras y citas exactas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Pida: "Revisa tu respuesta"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Guía: preguntas útiles para las tareas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0972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"Explícame [tema] como si tuviera [edad] años."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846320" y="10972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0972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me des la respuesta. Hazme preguntas para llegar a ella."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22402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2402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"Hazme un examen de práctica de 5 preguntas sobre [tema]."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24028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46320" y="22402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2402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"Revisa mi texto y dime qué mejorar, sin reescribirlo."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33832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3832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"Traduce las instrucciones de la tarea al español para que yo las entienda."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846320" y="33832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33832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"Dame 3 ideas para empezar mi proyecto, no el proyecto completo."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Conclusiones: la IA generativa en un vistazo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35041" y="1005840"/>
            <a:ext cx="6473919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work/assets/min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81" y="1097280"/>
            <a:ext cx="6291039" cy="3520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Tres mensajes para llevar a casa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25880" y="14173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163449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468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Verifique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9718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suena segura aunque se equivoque. Compare con fuentes confiables.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64408" y="118872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133088" y="14173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258" y="163449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55848" y="2468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Proteja sus datos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29718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Hable de la situación en general, nunca de sus datos personales.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71616" y="118872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940296" y="14173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466" y="163449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63056" y="2468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Acompañe a sus hijos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29718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Converse, pregunte y use la IA junto con ellos para aprender.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Volvamos a la escala: ¿dónde se siente ahora frente a la IA?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Recursos para seguir aprendiendo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566160" cy="347472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español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Sense Media en español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commonsensemedia.org/es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Guías y reseñas para familias sobre tecnología e 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Práctica Familiar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Incluida en esta presentación (sección 07)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097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Libros (en inglés)</a:t>
            </a:r>
            <a:endParaRPr lang="en-US" sz="1400" dirty="0"/>
          </a:p>
        </p:txBody>
      </p:sp>
      <p:pic>
        <p:nvPicPr>
          <p:cNvPr id="9" name="Image 0" descr="/home/claude/work/assets/book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891" y="1508760"/>
            <a:ext cx="920338" cy="1417320"/>
          </a:xfrm>
          <a:prstGeom prst="rect">
            <a:avLst/>
          </a:prstGeom>
        </p:spPr>
      </p:pic>
      <p:pic>
        <p:nvPicPr>
          <p:cNvPr id="10" name="Image 1" descr="/home/claude/work/assets/book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931" y="1508760"/>
            <a:ext cx="920338" cy="1417320"/>
          </a:xfrm>
          <a:prstGeom prst="rect">
            <a:avLst/>
          </a:prstGeom>
        </p:spPr>
      </p:pic>
      <p:pic>
        <p:nvPicPr>
          <p:cNvPr id="11" name="Image 2" descr="/home/claude/work/assets/book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529" y="1508760"/>
            <a:ext cx="951221" cy="1417320"/>
          </a:xfrm>
          <a:prstGeom prst="rect">
            <a:avLst/>
          </a:prstGeom>
        </p:spPr>
      </p:pic>
      <p:pic>
        <p:nvPicPr>
          <p:cNvPr id="12" name="Image 3" descr="/home/claude/work/assets/book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0479" y="3063240"/>
            <a:ext cx="943162" cy="1417320"/>
          </a:xfrm>
          <a:prstGeom prst="rect">
            <a:avLst/>
          </a:prstGeom>
        </p:spPr>
      </p:pic>
      <p:pic>
        <p:nvPicPr>
          <p:cNvPr id="13" name="Image 4" descr="/home/claude/work/assets/book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440" y="3063240"/>
            <a:ext cx="1417320" cy="1417320"/>
          </a:xfrm>
          <a:prstGeom prst="rect">
            <a:avLst/>
          </a:prstGeom>
        </p:spPr>
      </p:pic>
      <p:pic>
        <p:nvPicPr>
          <p:cNvPr id="14" name="Image 5" descr="/home/claude/work/assets/book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7112" y="3063240"/>
            <a:ext cx="1102055" cy="1417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DB7C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029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Preguntas y respuestas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2148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¡Gracias por acompañarnos!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461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Ivan Portilla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Portilla@gmail.com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github.com/iportilla/about-me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B2274E-2DD1-6327-5994-D2CCCE40DAB1}"/>
              </a:ext>
            </a:extLst>
          </p:cNvPr>
          <p:cNvSpPr txBox="1"/>
          <p:nvPr/>
        </p:nvSpPr>
        <p:spPr>
          <a:xfrm>
            <a:off x="3291840" y="438554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github.com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iportilla</a:t>
            </a:r>
            <a:r>
              <a:rPr lang="en-US" dirty="0">
                <a:solidFill>
                  <a:schemeClr val="bg1"/>
                </a:solidFill>
              </a:rPr>
              <a:t>/BSD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9A13B-4CA1-EC13-461E-C316DBBA2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244" y="3611880"/>
            <a:ext cx="1426779" cy="14267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A en Familia">
  <a:themeElements>
    <a:clrScheme name="IA en Familia">
      <a:dk1>
        <a:srgbClr val="0B0B10"/>
      </a:dk1>
      <a:lt1>
        <a:srgbClr val="FFFFFF"/>
      </a:lt1>
      <a:dk2>
        <a:srgbClr val="1E1B27"/>
      </a:dk2>
      <a:lt2>
        <a:srgbClr val="BDB7CC"/>
      </a:lt2>
      <a:accent1>
        <a:srgbClr val="E84FB5"/>
      </a:accent1>
      <a:accent2>
        <a:srgbClr val="A974E8"/>
      </a:accent2>
      <a:accent3>
        <a:srgbClr val="4FC3F7"/>
      </a:accent3>
      <a:accent4>
        <a:srgbClr val="F2C14E"/>
      </a:accent4>
      <a:accent5>
        <a:srgbClr val="6BD49A"/>
      </a:accent5>
      <a:accent6>
        <a:srgbClr val="F2735E"/>
      </a:accent6>
      <a:hlink>
        <a:srgbClr val="4FC3F7"/>
      </a:hlink>
      <a:folHlink>
        <a:srgbClr val="A974E8"/>
      </a:folHlink>
    </a:clrScheme>
    <a:fontScheme name="IA en Famili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3262</Words>
  <Application>Microsoft Macintosh PowerPoint</Application>
  <PresentationFormat>On-screen Show (16:9)</PresentationFormat>
  <Paragraphs>463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0" baseType="lpstr">
      <vt:lpstr>Arial</vt:lpstr>
      <vt:lpstr>IA en Familia</vt:lpstr>
      <vt:lpstr>IA en Familia: Guía práctica para padres</vt:lpstr>
      <vt:lpstr>Objetivos de esta capacitación</vt:lpstr>
      <vt:lpstr>Décadas de experiencia en IA y educación</vt:lpstr>
      <vt:lpstr>Agenda</vt:lpstr>
      <vt:lpstr>Un ejemplo reciente con la Inteligencia Artificial (IA)</vt:lpstr>
      <vt:lpstr>¿Quién escribió este mensaje?</vt:lpstr>
      <vt:lpstr>¿Cómo nos sentimos sobre la IA?</vt:lpstr>
      <vt:lpstr>Encuesta: ¿Conoce ChatGPT u otros chatbots?</vt:lpstr>
      <vt:lpstr>Encuesta: ¿Qué tanto sabe de IA?</vt:lpstr>
      <vt:lpstr>Encuesta: ¿Qué le gustaría aprender?</vt:lpstr>
      <vt:lpstr>Encuesta: ¿Qué usos le interesan más?</vt:lpstr>
      <vt:lpstr>¿Cómo funciona la IA generativa?</vt:lpstr>
      <vt:lpstr>Demostración en vivo</vt:lpstr>
      <vt:lpstr>Cómo hacer buenas preguntas</vt:lpstr>
      <vt:lpstr>Las 4 partes de una buena pregunta</vt:lpstr>
      <vt:lpstr>Todo junto: una pregunta completa</vt:lpstr>
      <vt:lpstr>Pregunta vaga vs. pregunta clara</vt:lpstr>
      <vt:lpstr>Consejo 1: Dele un rol a la IA</vt:lpstr>
      <vt:lpstr>Consejo 2: Pida que la IA guíe, no que resuelva</vt:lpstr>
      <vt:lpstr>Consejo 3: Pídale que revise su respuesta</vt:lpstr>
      <vt:lpstr>Nuestros hijos y la IA</vt:lpstr>
      <vt:lpstr>¿Qué hacen nuestros hijos con la IA?</vt:lpstr>
      <vt:lpstr>Usar la IA para aprender, no para copiar</vt:lpstr>
      <vt:lpstr>Edades mínimas y controles parentales</vt:lpstr>
      <vt:lpstr>Riesgos que debemos conocer</vt:lpstr>
      <vt:lpstr>Cómo hablar con nuestros hijos sobre la IA</vt:lpstr>
      <vt:lpstr>Ejercicio práctico en parejas</vt:lpstr>
      <vt:lpstr>Ejercicio: de pregunta vaga a pregunta clara</vt:lpstr>
      <vt:lpstr>¿Podemos confiar en la IA?</vt:lpstr>
      <vt:lpstr>Fortalezas y debilidades de la IA generativa</vt:lpstr>
      <vt:lpstr>Alucinaciones: la IA también inventa</vt:lpstr>
      <vt:lpstr>Privacidad: la situación sí, sus datos no</vt:lpstr>
      <vt:lpstr>La IA en la vida diaria</vt:lpstr>
      <vt:lpstr>Crear un sistema de tareas del hogar</vt:lpstr>
      <vt:lpstr>Prepararse para una visita médica</vt:lpstr>
      <vt:lpstr>Practicar una entrevista de trabajo</vt:lpstr>
      <vt:lpstr>Organizar el presupuesto familiar</vt:lpstr>
      <vt:lpstr>Entretener a los niños</vt:lpstr>
      <vt:lpstr>Muchas más ideas para la vida diaria</vt:lpstr>
      <vt:lpstr>Herramientas de IA gratuitas</vt:lpstr>
      <vt:lpstr>Guía Práctica Familiar</vt:lpstr>
      <vt:lpstr>Guía: nuestras reglas familiares</vt:lpstr>
      <vt:lpstr>Guía: qué nunca compartir y cómo verificar</vt:lpstr>
      <vt:lpstr>Guía: preguntas útiles para las tareas</vt:lpstr>
      <vt:lpstr>Conclusiones: la IA generativa en un vistazo</vt:lpstr>
      <vt:lpstr>Tres mensajes para llevar a casa</vt:lpstr>
      <vt:lpstr>Recursos para seguir aprendiendo</vt:lpstr>
      <vt:lpstr>Preguntas y respuestas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en Familia: Guía práctica para padres</dc:title>
  <dc:subject>PptxGenJS Presentation</dc:subject>
  <dc:creator>Ivan Portilla</dc:creator>
  <cp:lastModifiedBy>Ivan Portilla</cp:lastModifiedBy>
  <cp:revision>2</cp:revision>
  <dcterms:created xsi:type="dcterms:W3CDTF">2026-10-13T19:50:59Z</dcterms:created>
  <dcterms:modified xsi:type="dcterms:W3CDTF">2026-10-14T19:33:59Z</dcterms:modified>
</cp:coreProperties>
</file>